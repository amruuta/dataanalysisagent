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total Sales (highlighting Top 3 / Bottom 3)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y_total_sales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345699.0419000005</c:v>
                </c:pt>
                <c:pt idx="1">
                  <c:v>352115.86879999924</c:v>
                </c:pt>
                <c:pt idx="2">
                  <c:v>455290.7840000006</c:v>
                </c:pt>
                <c:pt idx="3">
                  <c:v>552553.7932000012</c:v>
                </c:pt>
                <c:pt idx="4">
                  <c:v>138548.45620000004</c:v>
                </c:pt>
                <c:pt idx="5">
                  <c:v>118416.6402</c:v>
                </c:pt>
                <c:pt idx="6">
                  <c:v>153914.81400000013</c:v>
                </c:pt>
                <c:pt idx="7">
                  <c:v>180661.46199999988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Profit Margin (top/bottom highlighted)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y_profit_margin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0.09804899317541312</c:v>
                </c:pt>
                <c:pt idx="1">
                  <c:v>0.1379048512226558</c:v>
                </c:pt>
                <c:pt idx="2">
                  <c:v>0.13858502657501626</c:v>
                </c:pt>
                <c:pt idx="3">
                  <c:v>0.1276026838792859</c:v>
                </c:pt>
                <c:pt idx="4">
                  <c:v>0.11294626825296947</c:v>
                </c:pt>
                <c:pt idx="5">
                  <c:v>0.11028954358054828</c:v>
                </c:pt>
                <c:pt idx="6">
                  <c:v>0.12148725917961335</c:v>
                </c:pt>
                <c:pt idx="7">
                  <c:v>0.1269331175898489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Sales Performance by Year: Top &amp; Bottom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Leadership-ready snapshot of strongest and weakest annual sales—totals, rankings, and profit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Sales performance by year: Top &amp; Bottom performers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Top sales years: 2017 (rank #1), 2016 (#2), 2015 (#3)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Bottom sales years: 2014 (rank #8), 2015 (#7), 2016 (#6)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Sales trajectory shows a clear mid/late-period upswing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Use this view to prioritize what to replicate and what to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1600200"/>
            <a:ext cx="53492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The highest sales years cluster in the later part of the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KPI summary (Top 3 &amp; Worst 3 by total Sales)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Key context and findings from the selected data.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0" y="1325880"/>
          <a:ext cx="5806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  <a:gridCol w="1161288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sales_bucket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order_year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rank_by_sales_desc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rank_by_sales_asc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total_sales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Bottom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153914.81400000013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Bottom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138548.45620000004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Bottom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118416.6402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552553.7932000012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455290.7840000006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352115.86879999924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Total Sales by Year (all years) with Top/Bottom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Key context and findings from the selected data.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760720" y="1325880"/>
          <a:ext cx="57150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Key deltas for each Top/Bottom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Delta vs next/previous year: identify acceleration or pullback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Delta vs overall mean: quantify how extreme each year is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Focus actions: double down on leading indicators from Top years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Investigate drivers that depressed the Bottom years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0" y="1325880"/>
          <a:ext cx="5806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  <a:gridCol w="1161288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sales_bucket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order_year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total_sales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delta_vs_prev_year_sales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delta_vs_next_year_sales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Bottom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153914.81400000013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35498.173800000135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26746.647999999754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Bottom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138548.45620000004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-414005.3370000012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-20131.81600000005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Bottom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118416.6402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-20131.81600000005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35498.173800000135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552553.7932000012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97263.00920000061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-414005.3370000012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455290.7840000006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103174.91520000139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97263.00920000061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Top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352115.86879999924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6416.826899998763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103174.91520000139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Profit context (Profit margin by year)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4800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Key context and findings from the selected data.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760720" y="1325880"/>
          <a:ext cx="57150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